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19"/>
  </p:notesMasterIdLst>
  <p:sldIdLst>
    <p:sldId id="274" r:id="rId2"/>
    <p:sldId id="256" r:id="rId3"/>
    <p:sldId id="257" r:id="rId4"/>
    <p:sldId id="265" r:id="rId5"/>
    <p:sldId id="268" r:id="rId6"/>
    <p:sldId id="266" r:id="rId7"/>
    <p:sldId id="260" r:id="rId8"/>
    <p:sldId id="273" r:id="rId9"/>
    <p:sldId id="259" r:id="rId10"/>
    <p:sldId id="261" r:id="rId11"/>
    <p:sldId id="262" r:id="rId12"/>
    <p:sldId id="272" r:id="rId13"/>
    <p:sldId id="269" r:id="rId14"/>
    <p:sldId id="271" r:id="rId15"/>
    <p:sldId id="267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9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25A4C-3942-4F78-93FA-E263212AA256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1A5DD-D0F8-4ED6-B6AD-96BED767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49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slide establishes the </a:t>
            </a:r>
            <a:r>
              <a:rPr lang="en-US" b="1" dirty="0"/>
              <a:t>basic philosophy of the website</a:t>
            </a:r>
            <a:r>
              <a:rPr lang="en-US" dirty="0"/>
              <a:t>. The repository should not function simply as a digital library where users arrive and see folders, PDFs, videos and training materials. Instead, it should guide on</a:t>
            </a:r>
            <a:r>
              <a:rPr lang="en-US" baseline="0" dirty="0"/>
              <a:t> understanding how the </a:t>
            </a:r>
            <a:r>
              <a:rPr lang="en-US" dirty="0"/>
              <a:t>learning journey is</a:t>
            </a:r>
            <a:r>
              <a:rPr lang="en-US" baseline="0" dirty="0"/>
              <a:t> designed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9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top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from where the user can access six broad areas: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Commoning of Commons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 Approach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Systems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Library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Help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530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Navigation logic: About → Commoning → Learning Approach → Resource System pathway → Resources. Direct Resource Library access remains available, but the homepage first explains the repository and its learning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18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Navigation logic: About → Commoning → Learning Approach → Resource System pathway → Resources. Direct Resource Library access remains available, but the homepage first explains the repository and its learning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77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3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</a:t>
            </a:r>
            <a:r>
              <a:rPr lang="en-US" baseline="0" dirty="0"/>
              <a:t> sections explains - b</a:t>
            </a:r>
            <a:r>
              <a:rPr lang="en-US" dirty="0"/>
              <a:t>efore I use these resources, what exactly am I trying to facilitate?</a:t>
            </a:r>
          </a:p>
          <a:p>
            <a:endParaRPr lang="en-US" b="1" dirty="0"/>
          </a:p>
          <a:p>
            <a:r>
              <a:rPr lang="en-US" b="1" dirty="0"/>
              <a:t>Community Agency</a:t>
            </a:r>
            <a:r>
              <a:rPr lang="en-US" dirty="0"/>
              <a:t> to be shown as a thread running through all three components of the Core Model.</a:t>
            </a:r>
          </a:p>
          <a:p>
            <a:r>
              <a:rPr lang="en-US" dirty="0"/>
              <a:t>The idea is</a:t>
            </a:r>
            <a:r>
              <a:rPr lang="en-US" baseline="0" dirty="0"/>
              <a:t> that - </a:t>
            </a:r>
            <a:r>
              <a:rPr lang="en-US" dirty="0"/>
              <a:t>Communities need the knowledge, confidence, institutional capacities and opportunities to understand, deliberate, decide, act and adapt.</a:t>
            </a:r>
          </a:p>
          <a:p>
            <a:r>
              <a:rPr lang="en-US" dirty="0"/>
              <a:t>This</a:t>
            </a:r>
            <a:r>
              <a:rPr lang="en-US" baseline="0" dirty="0"/>
              <a:t> then </a:t>
            </a:r>
            <a:r>
              <a:rPr lang="en-US" dirty="0"/>
              <a:t>creates a logical transition into the next page</a:t>
            </a:r>
            <a:r>
              <a:rPr lang="en-US" baseline="0" dirty="0"/>
              <a:t> - </a:t>
            </a:r>
            <a:r>
              <a:rPr lang="en-US" dirty="0"/>
              <a:t> </a:t>
            </a:r>
            <a:r>
              <a:rPr lang="en-US" b="1" dirty="0"/>
              <a:t>how do we build this agency and capacity through facilitating learning?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94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62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clicking a resource should open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information page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rather than immediately downloading a file. That page can explain: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this resource? → When should I use it? → Who should use it? → What should happen before/after it? → How should I facilitate/use it? → What field action follows? → What other resources are connected to it?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should accompany every resource—title, purpose, resource system, Commoning stage, intended user, learning design, type, language, duration, version/date and download/view option.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metadata is what makes the search and filters on Slide 10 possible.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56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875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1A5DD-D0F8-4ED6-B6AD-96BED76790B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79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83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67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6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8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69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61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25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46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7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42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67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40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90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238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859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13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8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212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nd01.safelinks.protection.outlook.com/?url=https%3A%2F%2Fcanva.link%2Fetnv6b7t4xbphva&amp;data=05%7C02%7Cmayuri%40fes.org.in%7C46aea1d348e6472330af08def9e1bff4%7Cfc4250ca6c7941b48ce9df11e47705db%7C0%7C0%7C639222945433593026%7CUnknown%7CTWFpbGZsb3d8eyJFbXB0eU1hcGkiOnRydWUsIlYiOiIwLjAuMDAwMCIsIlAiOiJXaW4zMiIsIkFOIjoiTWFpbCIsIldUIjoyfQ%3D%3D%7C0%7C%7C%7C&amp;sdata=iQmedmnXd5ADI%2Bb78tHjwnEF7dvKorRKI0jl%2Fp%2Bf8m8%3D&amp;reserved=0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CAE7CA-1A03-40E3-8BAD-6F4913CEAC60}"/>
              </a:ext>
            </a:extLst>
          </p:cNvPr>
          <p:cNvSpPr txBox="1"/>
          <p:nvPr/>
        </p:nvSpPr>
        <p:spPr>
          <a:xfrm>
            <a:off x="1600200" y="1557338"/>
            <a:ext cx="89290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FACILITATING COMMONING WIREFRAME</a:t>
            </a:r>
          </a:p>
          <a:p>
            <a:endParaRPr lang="en-GB" dirty="0"/>
          </a:p>
          <a:p>
            <a:endParaRPr lang="en-GB" dirty="0"/>
          </a:p>
          <a:p>
            <a:pPr fontAlgn="base"/>
            <a:r>
              <a:rPr lang="en-GB" dirty="0"/>
              <a:t>Along with the presentation please find below the link to the initial draft of the </a:t>
            </a:r>
          </a:p>
          <a:p>
            <a:pPr fontAlgn="base"/>
            <a:r>
              <a:rPr lang="en-GB" dirty="0"/>
              <a:t>Web Repository Design for your reference.</a:t>
            </a:r>
          </a:p>
          <a:p>
            <a:pPr fontAlgn="base"/>
            <a:r>
              <a:rPr lang="en-GB" dirty="0">
                <a:hlinkClick r:id="rId2" tooltip="Original URL: https://canva.link/etnv6b7t4xbphva. Click or tap if you trust this link."/>
              </a:rPr>
              <a:t>https://canva.link/etnv6b7t4xbphva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70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91008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Facilitating Commoning Component of Commons Platform: </a:t>
            </a:r>
            <a:r>
              <a:rPr dirty="0"/>
              <a:t> </a:t>
            </a:r>
            <a:endParaRPr lang="en-US" dirty="0"/>
          </a:p>
          <a:p>
            <a:pPr>
              <a:defRPr sz="2600" b="1"/>
            </a:pPr>
            <a:r>
              <a:rPr lang="en-US" sz="1600" dirty="0"/>
              <a:t>The Philosophy behind the Web Repository</a:t>
            </a:r>
            <a:endParaRPr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1128043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sz="1600" dirty="0"/>
              <a:t>Purpose: a learning system that enables ecosystem actors to understand and facilitate the Commoning of Commons.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83975"/>
            <a:ext cx="10881360" cy="105156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/>
              <a:t>USER JOURNEY</a:t>
            </a:r>
            <a:br>
              <a:rPr dirty="0"/>
            </a:br>
            <a:r>
              <a:rPr dirty="0">
                <a:solidFill>
                  <a:schemeClr val="tx1"/>
                </a:solidFill>
              </a:rPr>
              <a:t>Learn the approach</a:t>
            </a:r>
            <a:r>
              <a:rPr lang="en-US" dirty="0">
                <a:solidFill>
                  <a:schemeClr val="tx1"/>
                </a:solidFill>
              </a:rPr>
              <a:t> –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Understand Commoning </a:t>
            </a:r>
            <a:r>
              <a:rPr dirty="0">
                <a:solidFill>
                  <a:schemeClr val="tx1"/>
                </a:solidFill>
              </a:rPr>
              <a:t>→ Choose a resource system → Follow the process → Access learning resources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25095"/>
            <a:ext cx="1920240" cy="1717963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1100" dirty="0"/>
              <a:t>1. ORIENT</a:t>
            </a:r>
            <a:endParaRPr lang="en-US" sz="1100" dirty="0"/>
          </a:p>
          <a:p>
            <a:pPr algn="ctr">
              <a:defRPr sz="1400" b="1"/>
            </a:pPr>
            <a:br>
              <a:rPr sz="1100" dirty="0"/>
            </a:br>
            <a:r>
              <a:rPr sz="1100" dirty="0"/>
              <a:t>What is this repository?</a:t>
            </a:r>
            <a:endParaRPr lang="en-US" sz="1100" dirty="0"/>
          </a:p>
          <a:p>
            <a:pPr algn="ctr">
              <a:defRPr sz="1400" b="1"/>
            </a:pPr>
            <a:endParaRPr lang="en-US" sz="1100" dirty="0"/>
          </a:p>
          <a:p>
            <a:pPr algn="ctr">
              <a:defRPr sz="1400" b="1"/>
            </a:pPr>
            <a:r>
              <a:rPr lang="en-US" sz="1100" dirty="0"/>
              <a:t>[Users understand what the Karyashala Repository is and what it can help them do]</a:t>
            </a:r>
            <a:endParaRPr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2880360" y="3325095"/>
            <a:ext cx="1920240" cy="1717963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1100" dirty="0"/>
              <a:t>2. UNDERSTAND</a:t>
            </a:r>
            <a:endParaRPr lang="en-US" sz="1100" dirty="0"/>
          </a:p>
          <a:p>
            <a:pPr algn="ctr">
              <a:defRPr sz="1400" b="1"/>
            </a:pPr>
            <a:br>
              <a:rPr sz="1100" dirty="0"/>
            </a:br>
            <a:r>
              <a:rPr sz="1100" dirty="0"/>
              <a:t>What is Commoning?</a:t>
            </a:r>
            <a:endParaRPr lang="en-US" sz="1100" dirty="0"/>
          </a:p>
          <a:p>
            <a:pPr algn="ctr">
              <a:defRPr sz="1400" b="1"/>
            </a:pPr>
            <a:r>
              <a:rPr lang="en-US" sz="1100" dirty="0"/>
              <a:t>[The meaning of Commoning of Commons]</a:t>
            </a:r>
            <a:endParaRPr sz="11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0" y="3325095"/>
            <a:ext cx="1920240" cy="1717963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1100" dirty="0"/>
              <a:t>3. LEARN</a:t>
            </a:r>
            <a:endParaRPr lang="en-US" sz="1100" dirty="0"/>
          </a:p>
          <a:p>
            <a:pPr algn="ctr">
              <a:defRPr sz="1400" b="1"/>
            </a:pPr>
            <a:br>
              <a:rPr sz="1100" dirty="0"/>
            </a:br>
            <a:r>
              <a:rPr sz="1100" dirty="0"/>
              <a:t>How does capacity building work?</a:t>
            </a:r>
            <a:endParaRPr lang="en-US" sz="1100" dirty="0"/>
          </a:p>
          <a:p>
            <a:pPr algn="ctr">
              <a:defRPr sz="1400" b="1"/>
            </a:pPr>
            <a:r>
              <a:rPr lang="en-US" sz="1100" dirty="0"/>
              <a:t>- Understand how capacity building and continuous learning support Commoning and two methods of doing it</a:t>
            </a:r>
            <a:endParaRPr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7178040" y="3325095"/>
            <a:ext cx="1920240" cy="1717963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1100" dirty="0"/>
              <a:t>4. CHOOSE</a:t>
            </a:r>
            <a:endParaRPr lang="en-US" sz="1100" dirty="0"/>
          </a:p>
          <a:p>
            <a:pPr algn="ctr">
              <a:defRPr sz="1400" b="1"/>
            </a:pPr>
            <a:br>
              <a:rPr sz="1100" dirty="0"/>
            </a:br>
            <a:r>
              <a:rPr sz="1100" dirty="0"/>
              <a:t>Pastureland / Forest / Water</a:t>
            </a:r>
            <a:endParaRPr lang="en-US" sz="1100" dirty="0"/>
          </a:p>
          <a:p>
            <a:pPr algn="ctr">
              <a:defRPr sz="1400" b="1"/>
            </a:pPr>
            <a:r>
              <a:rPr lang="en-US" sz="1100" dirty="0"/>
              <a:t>- Select the natural-resource system or theme they are interested in—Pasturelands, Forests or Water</a:t>
            </a:r>
            <a:endParaRPr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9326880" y="3325095"/>
            <a:ext cx="1920240" cy="1717963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1100" dirty="0"/>
              <a:t>5. ACT</a:t>
            </a:r>
            <a:br>
              <a:rPr sz="1100" dirty="0"/>
            </a:br>
            <a:r>
              <a:rPr sz="1100" dirty="0"/>
              <a:t>Use resources in sequence</a:t>
            </a:r>
            <a:endParaRPr lang="en-US" sz="1100" dirty="0"/>
          </a:p>
          <a:p>
            <a:pPr algn="ctr">
              <a:defRPr sz="1400" b="1"/>
            </a:pPr>
            <a:r>
              <a:rPr lang="en-US" sz="1100" dirty="0"/>
              <a:t>- Based on he need users can access resources in a logical sequence and use them to facilitate processes on the ground</a:t>
            </a:r>
            <a:endParaRPr sz="1100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5415746"/>
            <a:ext cx="10515600" cy="10058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rPr dirty="0"/>
              <a:t>Design principle: </a:t>
            </a:r>
            <a:r>
              <a:rPr lang="en-US" dirty="0"/>
              <a:t>T</a:t>
            </a:r>
            <a:r>
              <a:rPr dirty="0"/>
              <a:t>he repository </a:t>
            </a:r>
            <a:r>
              <a:rPr lang="en-US" dirty="0"/>
              <a:t>will be organized </a:t>
            </a:r>
            <a:r>
              <a:rPr dirty="0"/>
              <a:t>around the learner’s task and the Commoning process—not around file types. Each resource-system page should show the </a:t>
            </a:r>
            <a:r>
              <a:rPr lang="en-US" dirty="0"/>
              <a:t>process/ </a:t>
            </a:r>
            <a:r>
              <a:rPr dirty="0"/>
              <a:t>pathway first, then the resources needed at each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1. Proposed information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294294"/>
            <a:ext cx="73597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sz="1400" dirty="0"/>
              <a:t>Top navigation stays simple; deeper content is reached through guided pathways.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148840"/>
            <a:ext cx="1737360" cy="9601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HOME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138361" y="2148840"/>
            <a:ext cx="1737360" cy="9601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dirty="0">
                <a:solidFill>
                  <a:schemeClr val="tx1"/>
                </a:solidFill>
              </a:rPr>
              <a:t>COMMONING</a:t>
            </a:r>
            <a:br>
              <a:rPr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OF COMMONS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48594" y="2148840"/>
            <a:ext cx="1737360" cy="9601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dirty="0"/>
              <a:t>LEARNING APPROACH</a:t>
            </a:r>
            <a:br>
              <a:rPr dirty="0"/>
            </a:br>
            <a:r>
              <a:rPr lang="en-US" dirty="0"/>
              <a:t>(CB Approach and design)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080760" y="2148840"/>
            <a:ext cx="1737360" cy="9601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dirty="0"/>
              <a:t>RESOURCE SYSTEMS</a:t>
            </a:r>
            <a:br>
              <a:rPr dirty="0"/>
            </a:br>
            <a:r>
              <a:rPr lang="en-US" dirty="0"/>
              <a:t>AND THEMES</a:t>
            </a:r>
          </a:p>
          <a:p>
            <a:pPr algn="ctr">
              <a:defRPr sz="1100" b="1"/>
            </a:pPr>
            <a:r>
              <a:rPr lang="en-US" dirty="0"/>
              <a:t>Pastureland | Forest | Water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001000" y="2148840"/>
            <a:ext cx="1737360" cy="9601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dirty="0"/>
              <a:t>RESOURCE LIBRARY</a:t>
            </a:r>
            <a:br>
              <a:rPr dirty="0"/>
            </a:b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606628" y="3703320"/>
            <a:ext cx="1645920" cy="7315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PASTURELAND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3988" y="3703320"/>
            <a:ext cx="1645920" cy="7315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FORESTS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1348" y="3703320"/>
            <a:ext cx="1645920" cy="7315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WATER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6628" y="4800600"/>
            <a:ext cx="5120640" cy="82296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 dirty="0"/>
              <a:t>Each resource system → Commoning pathway</a:t>
            </a:r>
            <a:r>
              <a:rPr lang="en-US" dirty="0"/>
              <a:t> (process)</a:t>
            </a:r>
            <a:r>
              <a:rPr dirty="0"/>
              <a:t> → stages/steps → learning modules</a:t>
            </a:r>
            <a:r>
              <a:rPr lang="en-US" dirty="0"/>
              <a:t>/ </a:t>
            </a:r>
            <a:r>
              <a:rPr dirty="0"/>
              <a:t>tools/</a:t>
            </a:r>
            <a:r>
              <a:rPr lang="en-US" dirty="0"/>
              <a:t> </a:t>
            </a:r>
            <a:r>
              <a:rPr dirty="0"/>
              <a:t>resources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6949440" y="3108960"/>
            <a:ext cx="0" cy="594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384800" y="3365500"/>
            <a:ext cx="3594100" cy="2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371390" y="3365500"/>
            <a:ext cx="0" cy="350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8978190" y="3406140"/>
            <a:ext cx="710" cy="309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38509" y="2384365"/>
            <a:ext cx="1508756" cy="469674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HELP</a:t>
            </a:r>
            <a:endParaRPr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6964217" y="3379352"/>
            <a:ext cx="3594100" cy="2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13167" y="3717174"/>
            <a:ext cx="1645920" cy="7315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lang="en-US" dirty="0"/>
              <a:t>THEME 1</a:t>
            </a:r>
            <a:endParaRPr dirty="0"/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10529903" y="3392282"/>
            <a:ext cx="710" cy="309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5596"/>
            <a:ext cx="11338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/>
            </a:pPr>
            <a:r>
              <a:rPr lang="en-US" dirty="0"/>
              <a:t>1- </a:t>
            </a:r>
            <a:r>
              <a:rPr dirty="0"/>
              <a:t>HOMEPAGE</a:t>
            </a:r>
            <a:r>
              <a:rPr lang="en-US" dirty="0"/>
              <a:t> -1</a:t>
            </a:r>
            <a:r>
              <a:rPr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4691" y="539216"/>
            <a:ext cx="11625349" cy="43891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24691" y="556675"/>
            <a:ext cx="19327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/>
            </a:pPr>
            <a:r>
              <a:rPr lang="en-US" sz="1100" dirty="0"/>
              <a:t>Facilitating Commoning/ </a:t>
            </a:r>
            <a:r>
              <a:rPr lang="en-US" sz="1100" dirty="0" err="1"/>
              <a:t>PoC</a:t>
            </a:r>
            <a:r>
              <a:rPr lang="en-US" sz="1100" dirty="0"/>
              <a:t> Logo</a:t>
            </a:r>
            <a:endParaRPr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2309556" y="667512"/>
            <a:ext cx="685799" cy="26161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>
              <a:defRPr sz="830" b="1"/>
            </a:pPr>
            <a:r>
              <a:rPr sz="1100" dirty="0">
                <a:solidFill>
                  <a:schemeClr val="tx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0582" y="625948"/>
            <a:ext cx="17408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Commoning of Commons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1271" y="625948"/>
            <a:ext cx="1424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Learning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8068" y="625948"/>
            <a:ext cx="14102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lang="en-US" sz="1100" dirty="0"/>
              <a:t>Resource Systems and Themes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510" y="667513"/>
            <a:ext cx="13188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Resource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2712" y="667512"/>
            <a:ext cx="580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Help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37167" y="630936"/>
            <a:ext cx="738553" cy="196721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00" b="0"/>
            </a:pPr>
            <a:r>
              <a:rPr sz="1100" dirty="0"/>
              <a:t>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059593"/>
            <a:ext cx="11338560" cy="786384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0080" y="1187609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rPr dirty="0"/>
              <a:t>ABOUT THE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132745"/>
            <a:ext cx="69951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/>
            </a:pPr>
            <a:r>
              <a:rPr sz="1100" dirty="0"/>
              <a:t>[2–3 lines: Introduce the </a:t>
            </a:r>
            <a:r>
              <a:rPr lang="en-US" sz="1100" dirty="0"/>
              <a:t>purpose - </a:t>
            </a:r>
            <a:r>
              <a:rPr sz="1100" dirty="0"/>
              <a:t>Web Repository as a learning system that supports ecosystem actors to build capacities and facilitate the Commoning of Commons. Explain what users can learn and access here.]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1306481"/>
            <a:ext cx="1234440" cy="29260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1"/>
            </a:pPr>
            <a:r>
              <a:rPr dirty="0"/>
              <a:t>Know More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10569"/>
            <a:ext cx="5468112" cy="107899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21791" y="2046033"/>
            <a:ext cx="427939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/>
            </a:pPr>
            <a:r>
              <a:rPr dirty="0"/>
              <a:t>COMMONING</a:t>
            </a:r>
            <a:r>
              <a:rPr lang="en-US" dirty="0"/>
              <a:t> OF COMMONS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66372" y="2357207"/>
            <a:ext cx="44988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rPr sz="1050" dirty="0"/>
              <a:t>[2–3 lines: Explain that Commoning involves communities collectively securing, governing, restoring and sustainably managing their shared natural resources, with community agency at the center.]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3251" y="2447259"/>
            <a:ext cx="960120" cy="25603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50" b="1"/>
            </a:pPr>
            <a:r>
              <a:rPr dirty="0"/>
              <a:t>Explore More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010569"/>
            <a:ext cx="5641848" cy="107899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327648" y="2156873"/>
            <a:ext cx="445312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/>
            </a:pPr>
            <a:r>
              <a:rPr dirty="0"/>
              <a:t>CAPACITY BUILDING APPROACH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953" y="2454192"/>
            <a:ext cx="44348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rPr sz="1000" dirty="0"/>
              <a:t>[2–3 lines: Explain the learning design—Modular Learning and LDHF—and how continuous learning, field application and guided support help translate training into action.]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8430" y="2447261"/>
            <a:ext cx="960120" cy="25603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50" b="1"/>
            </a:pPr>
            <a:r>
              <a:rPr dirty="0"/>
              <a:t>Explore More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91" y="3189033"/>
            <a:ext cx="292330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rPr dirty="0"/>
              <a:t>EXPLORE BY RESOURCE SYSTEM</a:t>
            </a:r>
            <a:r>
              <a:rPr lang="en-US" dirty="0"/>
              <a:t> OR THEME (Marquee)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063240" y="3230598"/>
            <a:ext cx="79552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rPr sz="1050" dirty="0"/>
              <a:t>[Choose the natural-resource system you are working with to understand its Commoning process and access the relevant learning pathway.]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" y="3656489"/>
            <a:ext cx="2727407" cy="1525254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67512" y="3691953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dirty="0"/>
              <a:t>PASTURELANDS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3980128"/>
            <a:ext cx="292608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[1–2 lines: What Commoning of pasturelands involves</a:t>
            </a:r>
            <a:r>
              <a:rPr lang="en-US" sz="1100" dirty="0"/>
              <a:t>- </a:t>
            </a:r>
            <a:r>
              <a:rPr sz="1100" dirty="0"/>
              <a:t>community institutions, tenure/recognition, collective rules, restoration and sustainable use.]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81912" y="4931107"/>
            <a:ext cx="1143000" cy="237744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30" b="1"/>
            </a:pPr>
            <a:r>
              <a:rPr dirty="0"/>
              <a:t>Explore More 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5968" y="3656489"/>
            <a:ext cx="2727407" cy="1525254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4261104" y="3691953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dirty="0"/>
              <a:t>FORESTS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1104" y="3980128"/>
            <a:ext cx="292608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[1–2 lines: What Commoning of Forest Commons involves</a:t>
            </a:r>
            <a:r>
              <a:rPr lang="en-US" sz="1100" dirty="0"/>
              <a:t> - </a:t>
            </a:r>
            <a:r>
              <a:rPr sz="1100" dirty="0"/>
              <a:t>community rights, institutions, collective governance, conservation and sustainable management.]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5504" y="4931107"/>
            <a:ext cx="1143000" cy="237744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30" b="1"/>
            </a:pPr>
            <a:r>
              <a:rPr dirty="0"/>
              <a:t>Explore More 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656489"/>
            <a:ext cx="2727407" cy="1525254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7854696" y="3691953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dirty="0"/>
              <a:t>WATER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4696" y="3980128"/>
            <a:ext cx="2926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[1–2 lines: What Commoning of water resources involves</a:t>
            </a:r>
            <a:r>
              <a:rPr lang="en-US" sz="1100" dirty="0"/>
              <a:t> - </a:t>
            </a:r>
            <a:r>
              <a:rPr sz="1100" dirty="0"/>
              <a:t>collective institutions, equitable access, planning, management and stewardship.]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69096" y="4931107"/>
            <a:ext cx="1143000" cy="237744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30" b="1"/>
            </a:pPr>
            <a:r>
              <a:rPr dirty="0"/>
              <a:t>Explore More 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299366"/>
            <a:ext cx="11338560" cy="107899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621792" y="5413249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/>
            </a:pPr>
            <a:r>
              <a:rPr dirty="0"/>
              <a:t>RESOURCE LIBRARY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705857"/>
            <a:ext cx="2148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/>
            </a:pPr>
            <a:r>
              <a:rPr sz="1100" dirty="0"/>
              <a:t>Latest updates / recently added resources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5431537"/>
            <a:ext cx="2148840" cy="56692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0"/>
            </a:pPr>
            <a:r>
              <a:rPr sz="1100" dirty="0"/>
              <a:t>[Latest Resource 1]</a:t>
            </a:r>
            <a:br>
              <a:rPr sz="1100" dirty="0"/>
            </a:br>
            <a:r>
              <a:rPr sz="1100" dirty="0"/>
              <a:t>[Type • Resource system]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40680" y="5431537"/>
            <a:ext cx="2148840" cy="56692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0"/>
            </a:pPr>
            <a:r>
              <a:rPr sz="1100" dirty="0"/>
              <a:t>[Latest Resource 2]</a:t>
            </a:r>
            <a:br>
              <a:rPr sz="1100" dirty="0"/>
            </a:br>
            <a:r>
              <a:rPr sz="1100" dirty="0"/>
              <a:t>[Type • Resource system]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9560" y="5431537"/>
            <a:ext cx="2148840" cy="56692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0"/>
            </a:pPr>
            <a:r>
              <a:rPr sz="1100" dirty="0"/>
              <a:t>[Latest Resource 3]</a:t>
            </a:r>
            <a:br>
              <a:rPr sz="1100" dirty="0"/>
            </a:br>
            <a:r>
              <a:rPr sz="1100" dirty="0"/>
              <a:t>[Type • Resource system]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14432" y="5641849"/>
            <a:ext cx="960120" cy="2743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50" b="1"/>
            </a:pPr>
            <a:r>
              <a:rPr dirty="0"/>
              <a:t>Read More 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89708" y="6370823"/>
            <a:ext cx="7587447" cy="44960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rPr lang="en-US" dirty="0"/>
              <a:t>On the Home Page – Include Take a Tour or Get Started - Kind of pop-up on the landing page.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006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338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/>
            </a:pPr>
            <a:r>
              <a:rPr lang="en-US" dirty="0"/>
              <a:t>1- </a:t>
            </a:r>
            <a:r>
              <a:rPr dirty="0"/>
              <a:t>HOMEPAGE </a:t>
            </a:r>
            <a:r>
              <a:rPr lang="en-US" dirty="0"/>
              <a:t>- 2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189018" y="667512"/>
            <a:ext cx="737061" cy="26161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>
              <a:defRPr sz="830" b="1"/>
            </a:pPr>
            <a:r>
              <a:rPr sz="1100" dirty="0">
                <a:solidFill>
                  <a:schemeClr val="tx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0582" y="625948"/>
            <a:ext cx="17408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Commoning of Commons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8217" y="625948"/>
            <a:ext cx="11711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Learning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8068" y="625948"/>
            <a:ext cx="14102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lang="en-US" sz="1100" dirty="0"/>
              <a:t>Resource Systems and Themes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510" y="667513"/>
            <a:ext cx="13188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Resource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2712" y="667512"/>
            <a:ext cx="580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/>
            </a:pPr>
            <a:r>
              <a:rPr sz="1100" dirty="0"/>
              <a:t>Help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37167" y="630936"/>
            <a:ext cx="738553" cy="196721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00" b="0"/>
            </a:pPr>
            <a:r>
              <a:rPr sz="1100" dirty="0"/>
              <a:t>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951" y="588551"/>
            <a:ext cx="11574089" cy="463019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468880" y="2337514"/>
            <a:ext cx="57330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/>
            </a:pPr>
            <a:r>
              <a:rPr lang="en-US" sz="1200" dirty="0"/>
              <a:t>CALL TO ACTION (Clicking guides user to the relevant page)</a:t>
            </a:r>
            <a:endParaRPr sz="1200" dirty="0"/>
          </a:p>
        </p:txBody>
      </p:sp>
      <p:sp>
        <p:nvSpPr>
          <p:cNvPr id="17" name="Rectangle 16"/>
          <p:cNvSpPr/>
          <p:nvPr/>
        </p:nvSpPr>
        <p:spPr>
          <a:xfrm>
            <a:off x="175951" y="3299047"/>
            <a:ext cx="3822192" cy="107899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330843" y="3798090"/>
            <a:ext cx="35622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sz="1050" dirty="0"/>
              <a:t>[</a:t>
            </a:r>
            <a:r>
              <a:rPr lang="en-US" sz="1050" dirty="0"/>
              <a:t>gives a very short explanation and allows interested users to learn more.</a:t>
            </a:r>
            <a:r>
              <a:rPr sz="1050" dirty="0"/>
              <a:t>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9423" y="4096028"/>
            <a:ext cx="960120" cy="25603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50" b="1"/>
            </a:pPr>
            <a:r>
              <a:rPr lang="en-US" dirty="0"/>
              <a:t>Learn</a:t>
            </a:r>
            <a:r>
              <a:rPr dirty="0"/>
              <a:t> More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2803" y="273609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lang="en-US" dirty="0"/>
              <a:t>Start Learning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4797862" y="2731686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lang="en-US" sz="1200" b="1" dirty="0"/>
              <a:t>Choose a Resource System or Theme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1072063" y="3331189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lang="en-US" dirty="0"/>
              <a:t>INTRODUCTORY BLOCK 1 </a:t>
            </a:r>
          </a:p>
          <a:p>
            <a:pPr algn="ctr">
              <a:defRPr sz="1200" b="1"/>
            </a:pPr>
            <a:r>
              <a:rPr lang="en-US" dirty="0"/>
              <a:t>What is Commoning?</a:t>
            </a:r>
          </a:p>
          <a:p>
            <a:pPr algn="ctr">
              <a:defRPr sz="1200" b="1"/>
            </a:pP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411480" y="4641277"/>
            <a:ext cx="11338560" cy="107899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621792" y="485907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/>
            </a:pPr>
            <a:r>
              <a:rPr dirty="0"/>
              <a:t>RESOURCE LIBRARY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151678"/>
            <a:ext cx="2148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/>
            </a:pPr>
            <a:r>
              <a:rPr sz="1100" dirty="0"/>
              <a:t>Latest updates / recently added resources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4877358"/>
            <a:ext cx="2148840" cy="56692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0"/>
            </a:pPr>
            <a:r>
              <a:rPr sz="1100" dirty="0"/>
              <a:t>[Latest Resource 1]</a:t>
            </a:r>
            <a:br>
              <a:rPr sz="1100" dirty="0"/>
            </a:br>
            <a:r>
              <a:rPr sz="1100" dirty="0"/>
              <a:t>[Type • Resource system]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40680" y="4877358"/>
            <a:ext cx="2148840" cy="56692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0"/>
            </a:pPr>
            <a:r>
              <a:rPr sz="1100" dirty="0"/>
              <a:t>[Latest Resource 2]</a:t>
            </a:r>
            <a:br>
              <a:rPr sz="1100" dirty="0"/>
            </a:br>
            <a:r>
              <a:rPr sz="1100" dirty="0"/>
              <a:t>[Type • Resource system]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9560" y="4877358"/>
            <a:ext cx="2148840" cy="56692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0"/>
            </a:pPr>
            <a:r>
              <a:rPr sz="1100" dirty="0"/>
              <a:t>[Latest Resource 3]</a:t>
            </a:r>
            <a:br>
              <a:rPr sz="1100" dirty="0"/>
            </a:br>
            <a:r>
              <a:rPr sz="1100" dirty="0"/>
              <a:t>[Type • Resource system]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14432" y="5087670"/>
            <a:ext cx="960120" cy="2743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50" b="1"/>
            </a:pPr>
            <a:r>
              <a:rPr lang="en-US" dirty="0"/>
              <a:t>Quick Access</a:t>
            </a:r>
            <a:r>
              <a:rPr dirty="0"/>
              <a:t> 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185" y="1419806"/>
            <a:ext cx="11338560" cy="786384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48" name="Rectangle 47"/>
          <p:cNvSpPr/>
          <p:nvPr/>
        </p:nvSpPr>
        <p:spPr>
          <a:xfrm>
            <a:off x="1565564" y="1415577"/>
            <a:ext cx="99447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entury Gothic" panose="020B0502020202020204" pitchFamily="34" charset="0"/>
                <a:ea typeface="Times New Roman" panose="02020603050405020304" pitchFamily="18" charset="0"/>
              </a:rPr>
              <a:t>The first element –</a:t>
            </a:r>
          </a:p>
          <a:p>
            <a:r>
              <a:rPr lang="en-US" sz="1600" i="1" dirty="0">
                <a:latin typeface="Century Gothic" panose="020B0502020202020204" pitchFamily="34" charset="0"/>
                <a:ea typeface="Times New Roman" panose="02020603050405020304" pitchFamily="18" charset="0"/>
              </a:rPr>
              <a:t>Commoning of Commons: Learn. Facilitate. Act.</a:t>
            </a:r>
          </a:p>
          <a:p>
            <a:r>
              <a:rPr lang="en-US" sz="1600" i="1" dirty="0">
                <a:latin typeface="Century Gothic" panose="020B0502020202020204" pitchFamily="34" charset="0"/>
                <a:ea typeface="Times New Roman" panose="02020603050405020304" pitchFamily="18" charset="0"/>
              </a:rPr>
              <a:t>(1-2 line explainer for about the repository - on why and what this repository enables)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166052" y="3299045"/>
            <a:ext cx="3822192" cy="107899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4362509" y="3784231"/>
            <a:ext cx="35622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sz="1050" dirty="0"/>
              <a:t>[</a:t>
            </a:r>
            <a:r>
              <a:rPr lang="en-US" sz="1050" dirty="0"/>
              <a:t>gives a very short explanation and allows interested users to learn more.</a:t>
            </a:r>
            <a:r>
              <a:rPr sz="1050" dirty="0"/>
              <a:t>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40989" y="4096026"/>
            <a:ext cx="960120" cy="25603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50" b="1"/>
            </a:pPr>
            <a:r>
              <a:rPr lang="en-US" dirty="0"/>
              <a:t>Learn</a:t>
            </a:r>
            <a:r>
              <a:rPr dirty="0"/>
              <a:t> More 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3729" y="3331187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lang="en-US" dirty="0"/>
              <a:t>INTRODUCTORY BLOCK 2 </a:t>
            </a:r>
          </a:p>
          <a:p>
            <a:pPr algn="ctr">
              <a:defRPr sz="1200" b="1"/>
            </a:pPr>
            <a:r>
              <a:rPr lang="en-US" dirty="0"/>
              <a:t>How Learning Enables Action?</a:t>
            </a:r>
            <a:endParaRPr dirty="0"/>
          </a:p>
        </p:txBody>
      </p:sp>
      <p:sp>
        <p:nvSpPr>
          <p:cNvPr id="55" name="Rectangle 54"/>
          <p:cNvSpPr/>
          <p:nvPr/>
        </p:nvSpPr>
        <p:spPr>
          <a:xfrm>
            <a:off x="8170009" y="3299041"/>
            <a:ext cx="3822192" cy="1078992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0"/>
            </a:pPr>
            <a:endParaRPr dirty="0"/>
          </a:p>
        </p:txBody>
      </p:sp>
      <p:sp>
        <p:nvSpPr>
          <p:cNvPr id="56" name="TextBox 55"/>
          <p:cNvSpPr txBox="1"/>
          <p:nvPr/>
        </p:nvSpPr>
        <p:spPr>
          <a:xfrm>
            <a:off x="8344021" y="3809900"/>
            <a:ext cx="35622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sz="1050" dirty="0"/>
              <a:t>[</a:t>
            </a:r>
            <a:r>
              <a:rPr lang="en-US" sz="1050" dirty="0"/>
              <a:t>gives a very short explanation and allows interested users to learn more.</a:t>
            </a:r>
            <a:r>
              <a:rPr sz="1050" dirty="0"/>
              <a:t>]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74146" y="4096022"/>
            <a:ext cx="1229606" cy="25603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750" b="1"/>
            </a:pPr>
            <a:r>
              <a:rPr lang="en-US" dirty="0"/>
              <a:t>Learn</a:t>
            </a:r>
            <a:r>
              <a:rPr dirty="0"/>
              <a:t> More →</a:t>
            </a:r>
            <a:r>
              <a:rPr lang="en-US" dirty="0"/>
              <a:t> (Guides user to relevant page)</a:t>
            </a:r>
            <a:endParaRPr dirty="0"/>
          </a:p>
        </p:txBody>
      </p:sp>
      <p:sp>
        <p:nvSpPr>
          <p:cNvPr id="58" name="TextBox 57"/>
          <p:cNvSpPr txBox="1"/>
          <p:nvPr/>
        </p:nvSpPr>
        <p:spPr>
          <a:xfrm>
            <a:off x="9107686" y="3331183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lang="en-US" dirty="0"/>
              <a:t>INTRODUCTORY BLOCK 3 </a:t>
            </a:r>
          </a:p>
          <a:p>
            <a:pPr algn="ctr">
              <a:defRPr sz="1200" b="1"/>
            </a:pPr>
            <a:r>
              <a:rPr lang="en-US" dirty="0"/>
              <a:t>Choose Your Commons</a:t>
            </a:r>
            <a:endParaRPr dirty="0"/>
          </a:p>
        </p:txBody>
      </p:sp>
      <p:sp>
        <p:nvSpPr>
          <p:cNvPr id="38" name="Rounded Rectangle 37"/>
          <p:cNvSpPr/>
          <p:nvPr/>
        </p:nvSpPr>
        <p:spPr>
          <a:xfrm>
            <a:off x="2189708" y="5955189"/>
            <a:ext cx="7587447" cy="44960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rPr lang="en-US" dirty="0"/>
              <a:t>On the Home Page – Include Take a Tour or Get Started - Kind of pop-up on the landing page.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332512" y="556675"/>
            <a:ext cx="19327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/>
            </a:pPr>
            <a:r>
              <a:rPr lang="en-US" sz="1100" dirty="0"/>
              <a:t>Facilitating Commoning/ </a:t>
            </a:r>
            <a:r>
              <a:rPr lang="en-US" sz="1100" dirty="0" err="1"/>
              <a:t>PoC</a:t>
            </a:r>
            <a:r>
              <a:rPr lang="en-US" sz="1100" dirty="0"/>
              <a:t> Logo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2255513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7" y="193952"/>
            <a:ext cx="11443857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Alternatively ideas – to make the site more engaging and to add some interesting elements on the homepage: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dirty="0"/>
              <a:t>Featured learning resource — Instead of only showing “Latest Resources,” periodically one useful resource may be highlighted, For e.g.: Featured this month: Facilitator Guide for… …    with a short explanation of what it helps one do. (homepage will feel active and curated)</a:t>
            </a:r>
          </a:p>
          <a:p>
            <a:endParaRPr lang="en-US" sz="1400" dirty="0"/>
          </a:p>
          <a:p>
            <a:r>
              <a:rPr lang="en-US" sz="1400" dirty="0"/>
              <a:t>A very simple callout saying - “New to Commoning of Commons? Start with this 5-minute introduction.”  Add link to an existing video here from YouTube.</a:t>
            </a:r>
          </a:p>
          <a:p>
            <a:endParaRPr lang="en-US" sz="1400" dirty="0"/>
          </a:p>
          <a:p>
            <a:r>
              <a:rPr lang="en-US" sz="1400" dirty="0"/>
              <a:t>For Commoning of Commons - An interactive “Commoning Journey” strip - where instead of explaining the entire Core Model in text, show a simple visual pathway such as Build collective institutions → Secure tenure → Plan to Restore &amp; manage = Ecological heath, social well-being and resilient livelihoods. A user could hover or click each stage for a one-line explanation and then select -  Explore the Commoning Process.</a:t>
            </a:r>
          </a:p>
          <a:p>
            <a:endParaRPr lang="en-US" sz="1400" dirty="0"/>
          </a:p>
          <a:p>
            <a:r>
              <a:rPr lang="en-US" sz="1400" dirty="0"/>
              <a:t>“Commoning in Action” — A visually engaging section with 2–3 short field stories, photographs or examples showing what Commoning looks like on the ground. For example: “How a Gram Sabha strengthened governance of its Forest Commons” or “How communities developed rules for managing pasturelands.” Each could have a Read the Story → link. This would make the fairly conceptual idea of Commoning more tangible. BUT THIS MAY BE REPETETIVE as other sections may also have some thing similar.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31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4. Learning Approach — from information to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3" y="1065415"/>
            <a:ext cx="12344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5372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Commoning of Commons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52997" y="1051560"/>
            <a:ext cx="1691640" cy="384048"/>
          </a:xfrm>
          <a:prstGeom prst="roundRect">
            <a:avLst/>
          </a:prstGeom>
          <a:solidFill>
            <a:schemeClr val="accent4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rPr dirty="0"/>
              <a:t>Learning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282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lang="en-US" dirty="0"/>
              <a:t>Resource Systems and Themes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Resource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81360" y="1051560"/>
            <a:ext cx="7772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7485" y="2257696"/>
            <a:ext cx="11018520" cy="68580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br>
              <a:rPr dirty="0"/>
            </a:br>
            <a:r>
              <a:rPr sz="1200" dirty="0"/>
              <a:t>[</a:t>
            </a:r>
            <a:r>
              <a:rPr lang="en-US" sz="1200" dirty="0"/>
              <a:t>Commoning is a continuous process that requires ongoing learning, field application, reflection, and handholding, rather than a one-time transfer of information.</a:t>
            </a:r>
            <a:endParaRPr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594360" y="3451394"/>
            <a:ext cx="5303520" cy="2235433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 dirty="0"/>
              <a:t>MODULAR LEARNING DESIGN</a:t>
            </a:r>
            <a:endParaRPr lang="en-US" dirty="0"/>
          </a:p>
          <a:p>
            <a:pPr algn="ctr">
              <a:defRPr sz="1200" b="0"/>
            </a:pPr>
            <a:r>
              <a:rPr dirty="0"/>
              <a:t>• </a:t>
            </a:r>
            <a:r>
              <a:rPr lang="en-US" dirty="0"/>
              <a:t>Breaks complex learning into manageable, progressive stages (</a:t>
            </a:r>
            <a:r>
              <a:rPr dirty="0"/>
              <a:t>Commoning process broken into a series of modules</a:t>
            </a:r>
            <a:r>
              <a:rPr lang="en-US" dirty="0"/>
              <a:t>) </a:t>
            </a:r>
            <a:br>
              <a:rPr dirty="0"/>
            </a:br>
            <a:r>
              <a:rPr dirty="0"/>
              <a:t>• In-person sessions at periodic intervals</a:t>
            </a:r>
            <a:br>
              <a:rPr dirty="0"/>
            </a:br>
            <a:r>
              <a:rPr dirty="0"/>
              <a:t>• Field activities between modules</a:t>
            </a:r>
            <a:br>
              <a:rPr dirty="0"/>
            </a:br>
            <a:r>
              <a:rPr dirty="0"/>
              <a:t>• Each module builds on prior learning and action</a:t>
            </a:r>
            <a:br>
              <a:rPr dirty="0"/>
            </a:br>
            <a:r>
              <a:rPr dirty="0"/>
              <a:t>• Cumulative field actions contribute to outcomes</a:t>
            </a:r>
            <a:endParaRPr lang="en-US" dirty="0"/>
          </a:p>
          <a:p>
            <a:pPr algn="ctr">
              <a:defRPr sz="1200" b="0"/>
            </a:pPr>
            <a:endParaRPr lang="en-US" dirty="0"/>
          </a:p>
          <a:p>
            <a:pPr algn="ctr">
              <a:defRPr sz="1200" b="0"/>
            </a:pPr>
            <a:r>
              <a:rPr lang="en-US" dirty="0"/>
              <a:t>[Modular Design Image]  </a:t>
            </a:r>
          </a:p>
          <a:p>
            <a:pPr algn="ctr">
              <a:defRPr sz="1200" b="0"/>
            </a:pPr>
            <a:endParaRPr lang="en-US" dirty="0"/>
          </a:p>
          <a:p>
            <a:pPr algn="ctr">
              <a:defRPr sz="1200" b="0"/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309360" y="3489495"/>
            <a:ext cx="5303520" cy="21513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 dirty="0"/>
              <a:t>LOW DOSE HIGH FREQUENCY (LDHF)</a:t>
            </a:r>
            <a:endParaRPr lang="en-US" dirty="0"/>
          </a:p>
          <a:p>
            <a:pPr algn="ctr">
              <a:defRPr sz="1200" b="0"/>
            </a:pPr>
            <a:r>
              <a:rPr dirty="0"/>
              <a:t>• Short, frequent virtual learning engagements</a:t>
            </a:r>
            <a:br>
              <a:rPr dirty="0"/>
            </a:br>
            <a:r>
              <a:rPr dirty="0"/>
              <a:t>• Atomized content focused on specific concepts/tasks</a:t>
            </a:r>
            <a:br>
              <a:rPr dirty="0"/>
            </a:br>
            <a:r>
              <a:rPr dirty="0"/>
              <a:t>• Guided mentoring between sessions</a:t>
            </a:r>
            <a:br>
              <a:rPr dirty="0"/>
            </a:br>
            <a:r>
              <a:rPr dirty="0"/>
              <a:t>• Repeated learning–application–feedback cycles</a:t>
            </a:r>
            <a:br>
              <a:rPr dirty="0"/>
            </a:br>
            <a:r>
              <a:rPr dirty="0"/>
              <a:t>• Enables timely support while action is underway</a:t>
            </a:r>
            <a:endParaRPr lang="en-US" dirty="0"/>
          </a:p>
          <a:p>
            <a:pPr algn="ctr">
              <a:defRPr sz="1200" b="0"/>
            </a:pPr>
            <a:endParaRPr lang="en-US" dirty="0"/>
          </a:p>
          <a:p>
            <a:pPr algn="ctr">
              <a:defRPr sz="1200" b="0"/>
            </a:pPr>
            <a:r>
              <a:rPr dirty="0"/>
              <a:t>[LDHF </a:t>
            </a:r>
            <a:r>
              <a:rPr lang="en-US" dirty="0"/>
              <a:t>image)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820" y="1706371"/>
            <a:ext cx="11018520" cy="33329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/>
              <a:t>COMMON PURPOSE: build stakeholder capacities + handhold learners as they translate training inputs into action on the ground.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2261108" y="5356395"/>
            <a:ext cx="2044192" cy="2844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1"/>
            </a:pPr>
            <a:r>
              <a:rPr lang="en-US" dirty="0"/>
              <a:t>Link to the Karuashala Operations manual</a:t>
            </a:r>
            <a:r>
              <a:rPr dirty="0"/>
              <a:t>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32852" y="5328223"/>
            <a:ext cx="2256536" cy="2844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800" b="1"/>
            </a:pPr>
            <a:r>
              <a:rPr lang="en-US" dirty="0"/>
              <a:t>Link to the Guided Mentoring module</a:t>
            </a:r>
            <a:r>
              <a:rPr dirty="0"/>
              <a:t>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5918200"/>
            <a:ext cx="10883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The LDHF design complements the modular approach by enabling continuous learning and reinforcement between formal training interventions.</a:t>
            </a:r>
          </a:p>
          <a:p>
            <a:r>
              <a:rPr lang="en-US" sz="1200" b="1" dirty="0"/>
              <a:t> 										[</a:t>
            </a:r>
            <a:r>
              <a:rPr lang="en-US" sz="1200" dirty="0"/>
              <a:t>Learning Action Cycle Image]</a:t>
            </a:r>
          </a:p>
          <a:p>
            <a:endParaRPr lang="en-US" sz="1200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728691" y="3035182"/>
            <a:ext cx="597691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lang="en-US" sz="1200" dirty="0"/>
              <a:t>TWO METHODS OF LEARNING FOR FACILITATING COMMONING</a:t>
            </a:r>
            <a:endParaRPr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53" y="64284"/>
            <a:ext cx="5696745" cy="32103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072" y="135731"/>
            <a:ext cx="5496692" cy="30674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3" b="24422"/>
          <a:stretch/>
        </p:blipFill>
        <p:spPr>
          <a:xfrm>
            <a:off x="4397123" y="3620081"/>
            <a:ext cx="7753319" cy="32083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-207819" y="3268281"/>
            <a:ext cx="3276615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lang="en-US" sz="1200" dirty="0"/>
              <a:t>Modular Training Design</a:t>
            </a:r>
            <a:endParaRPr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6470067" y="3226711"/>
            <a:ext cx="3276615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 lang="en-US" dirty="0"/>
              <a:t>LOW DOSE HIGH FREQUENCY (LDHF)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1274" y="6399414"/>
            <a:ext cx="3276615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lang="en-US" sz="1200" dirty="0"/>
              <a:t>Approach to Outcome based Learning 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38751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53631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2</a:t>
            </a:r>
            <a:r>
              <a:rPr dirty="0"/>
              <a:t>. Commoning of Commons  </a:t>
            </a:r>
            <a:r>
              <a:rPr lang="en-US" dirty="0"/>
              <a:t>(</a:t>
            </a:r>
            <a:r>
              <a:rPr dirty="0"/>
              <a:t>concept + approach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209507" y="1051560"/>
            <a:ext cx="12344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sz="1100" dirty="0"/>
              <a:t>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23077" y="1065415"/>
            <a:ext cx="1691640" cy="384048"/>
          </a:xfrm>
          <a:prstGeom prst="roundRect">
            <a:avLst/>
          </a:prstGeom>
          <a:solidFill>
            <a:schemeClr val="accent4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rPr sz="1100" dirty="0"/>
              <a:t>Commoning of Commons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6837" y="1065415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sz="1100" dirty="0"/>
              <a:t>Learning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93992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lang="en-US" sz="1100" dirty="0"/>
              <a:t>Resource Systems and Themes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sz="1100" dirty="0"/>
              <a:t>Resource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81360" y="1051560"/>
            <a:ext cx="7772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sz="1100" dirty="0"/>
              <a:t>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3657600" cy="105156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i="1" dirty="0"/>
              <a:t>WHAT DOES ‘COMMONING</a:t>
            </a:r>
            <a:r>
              <a:rPr lang="en-US" i="1" dirty="0"/>
              <a:t> OF COMMONS</a:t>
            </a:r>
            <a:r>
              <a:rPr i="1" dirty="0"/>
              <a:t>’ MEAN</a:t>
            </a:r>
            <a:r>
              <a:rPr sz="1100" i="1" dirty="0"/>
              <a:t>?</a:t>
            </a:r>
            <a:br>
              <a:rPr sz="1100" i="1" dirty="0"/>
            </a:br>
            <a:r>
              <a:rPr lang="en-US" sz="1100" i="1" dirty="0"/>
              <a:t>(Section explains what Commoning of Commons means in simple language)</a:t>
            </a:r>
            <a:endParaRPr sz="1100" i="1" dirty="0"/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7132320" cy="105156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 dirty="0"/>
              <a:t>WHY </a:t>
            </a:r>
            <a:r>
              <a:rPr lang="en-US" dirty="0"/>
              <a:t>IS COMMONING IMPORTANT OR WHY IT MATTERS</a:t>
            </a:r>
            <a:br>
              <a:rPr dirty="0"/>
            </a:br>
            <a:r>
              <a:rPr dirty="0"/>
              <a:t>[Communities exercise custodianship and agency over shared natural resources; collective institutions make decisions and sustain action over time.]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34841"/>
            <a:ext cx="11018520" cy="7772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/>
              <a:t>COMMUNITY AGENCY IS THE </a:t>
            </a:r>
            <a:r>
              <a:rPr lang="en-US" dirty="0"/>
              <a:t>COMMON </a:t>
            </a:r>
            <a:r>
              <a:rPr dirty="0"/>
              <a:t>THREAD ACROSS ALL THREE:</a:t>
            </a:r>
            <a:r>
              <a:rPr lang="en-US" dirty="0"/>
              <a:t> </a:t>
            </a:r>
            <a:r>
              <a:rPr dirty="0"/>
              <a:t>communities understand rights and responsibilities, deliberate collectively, make informed decisions, act, reflect and adapt.</a:t>
            </a:r>
            <a:r>
              <a:rPr lang="en-US" dirty="0"/>
              <a:t> </a:t>
            </a:r>
          </a:p>
          <a:p>
            <a:pPr algn="ctr">
              <a:defRPr sz="1300" b="1"/>
            </a:pPr>
            <a:r>
              <a:rPr lang="en-US" dirty="0"/>
              <a:t>(To link need and importance of capacity building to build agency, knowledge and capacity)  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60615" y="2980113"/>
            <a:ext cx="11018520" cy="1356359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lang="en-US" dirty="0"/>
              <a:t>APPROACH TO COMMONING OF COMMONS</a:t>
            </a:r>
          </a:p>
          <a:p>
            <a:pPr algn="ctr">
              <a:defRPr sz="1300" b="1"/>
            </a:pPr>
            <a:r>
              <a:rPr lang="en-US" dirty="0"/>
              <a:t>(KEY PILLARS OF COMMONING)</a:t>
            </a:r>
          </a:p>
          <a:p>
            <a:pPr algn="ctr">
              <a:defRPr sz="1300" b="1"/>
            </a:pPr>
            <a:r>
              <a:rPr lang="en-US" dirty="0"/>
              <a:t>INSTITUTION BUILDING &amp; GOVERNANCE + TENURIAL SECURITY +RESTORATION &amp; SUSTAINABLE MANAGEMENT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52106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5. Resource Systems</a:t>
            </a:r>
            <a:r>
              <a:rPr lang="en-US" dirty="0"/>
              <a:t> And Themes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458889" y="1051560"/>
            <a:ext cx="12344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93992" y="1051560"/>
            <a:ext cx="1691640" cy="384048"/>
          </a:xfrm>
          <a:prstGeom prst="roundRect">
            <a:avLst/>
          </a:prstGeom>
          <a:solidFill>
            <a:schemeClr val="accent4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/>
              <a:t>Resource Systems</a:t>
            </a:r>
            <a:r>
              <a:rPr lang="en-US" sz="900" b="1" dirty="0"/>
              <a:t> and Themes</a:t>
            </a:r>
            <a:endParaRPr sz="9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8595360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Resource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81360" y="1051560"/>
            <a:ext cx="7772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7171"/>
            <a:ext cx="11018520" cy="6400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/>
              <a:t>SELECT THE COMMONS</a:t>
            </a:r>
            <a:r>
              <a:rPr lang="en-US" dirty="0"/>
              <a:t> (RESOURCE-SYSTEM) OR THEME</a:t>
            </a:r>
            <a:r>
              <a:rPr dirty="0"/>
              <a:t> YOU ARE WORKING WITH</a:t>
            </a:r>
            <a:br>
              <a:rPr dirty="0"/>
            </a:br>
            <a:r>
              <a:rPr dirty="0"/>
              <a:t>[Each pathway explains the process first and then provides resources in the order they are likely to be used.]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08324"/>
            <a:ext cx="3154680" cy="1278769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PASTURELAND</a:t>
            </a:r>
            <a:br>
              <a:rPr dirty="0"/>
            </a:br>
            <a:r>
              <a:rPr sz="1200" dirty="0"/>
              <a:t>[</a:t>
            </a:r>
            <a:r>
              <a:rPr lang="en-US" sz="1200" dirty="0"/>
              <a:t>Process - Image</a:t>
            </a:r>
            <a:r>
              <a:rPr sz="1200" dirty="0"/>
              <a:t>]</a:t>
            </a:r>
            <a:br>
              <a:rPr sz="1200" dirty="0"/>
            </a:br>
            <a:r>
              <a:rPr lang="en-US" sz="1200" dirty="0"/>
              <a:t>[Link to Process Documents (of three States]                  </a:t>
            </a:r>
          </a:p>
          <a:p>
            <a:pPr algn="ctr">
              <a:defRPr sz="1500" b="1"/>
            </a:pPr>
            <a:r>
              <a:rPr sz="1200" dirty="0"/>
              <a:t>[</a:t>
            </a:r>
            <a:r>
              <a:rPr lang="en-US" sz="1200" dirty="0"/>
              <a:t>Begin your Learning Journey/ Access Resource</a:t>
            </a:r>
            <a:r>
              <a:rPr sz="1200" dirty="0"/>
              <a:t> →]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8105" y="2716874"/>
            <a:ext cx="3154680" cy="144030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FORESTS</a:t>
            </a:r>
            <a:br>
              <a:rPr dirty="0"/>
            </a:br>
            <a:br>
              <a:rPr dirty="0"/>
            </a:br>
            <a:r>
              <a:rPr lang="en-US" sz="1200" dirty="0"/>
              <a:t>[Process - Image]</a:t>
            </a:r>
            <a:br>
              <a:rPr lang="en-US" sz="1200" dirty="0"/>
            </a:br>
            <a:r>
              <a:rPr lang="en-US" sz="1200" dirty="0"/>
              <a:t>[Link to Process Documents (of three States]                  </a:t>
            </a:r>
          </a:p>
          <a:p>
            <a:pPr algn="ctr">
              <a:defRPr sz="1500" b="1"/>
            </a:pPr>
            <a:r>
              <a:rPr lang="en-US" sz="1200" dirty="0"/>
              <a:t>[Begin your Learning Journey/ Access Resource →]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9985" y="2716874"/>
            <a:ext cx="3154680" cy="144030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WATER</a:t>
            </a:r>
            <a:br>
              <a:rPr dirty="0"/>
            </a:br>
            <a:br>
              <a:rPr dirty="0"/>
            </a:br>
            <a:r>
              <a:rPr lang="en-US" sz="1200" dirty="0"/>
              <a:t>[Process - Image]</a:t>
            </a:r>
            <a:br>
              <a:rPr lang="en-US" sz="1200" dirty="0"/>
            </a:br>
            <a:r>
              <a:rPr lang="en-US" sz="1200" dirty="0"/>
              <a:t>[Link to Process Documents (of three States]                  </a:t>
            </a:r>
          </a:p>
          <a:p>
            <a:pPr algn="ctr">
              <a:defRPr sz="1500" b="1"/>
            </a:pPr>
            <a:r>
              <a:rPr lang="en-US" sz="1200" dirty="0"/>
              <a:t>[Begin your Learning Journey/ Access Resource →]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08271"/>
            <a:ext cx="3154680" cy="1352201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lang="en-US" dirty="0"/>
              <a:t>MULTI-ACTOR PLATFORMS </a:t>
            </a:r>
            <a:br>
              <a:rPr dirty="0"/>
            </a:br>
            <a:br>
              <a:rPr dirty="0"/>
            </a:br>
            <a:r>
              <a:rPr sz="1200" dirty="0"/>
              <a:t>[Brief description]</a:t>
            </a:r>
            <a:br>
              <a:rPr sz="1200" dirty="0"/>
            </a:br>
            <a:r>
              <a:rPr lang="en-US" sz="1200" dirty="0"/>
              <a:t>[Begin your Learning Journey/ Access Resource →]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494412"/>
            <a:ext cx="3154680" cy="1352201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lang="en-US" dirty="0"/>
              <a:t>LOCAL ECONOMIC OPPORTUNITIES</a:t>
            </a:r>
            <a:br>
              <a:rPr dirty="0"/>
            </a:br>
            <a:r>
              <a:rPr sz="1200" dirty="0"/>
              <a:t>[Brief description]</a:t>
            </a:r>
            <a:br>
              <a:rPr sz="1200" dirty="0"/>
            </a:br>
            <a:r>
              <a:rPr lang="en-US" sz="1200" dirty="0"/>
              <a:t>[Begin your Learning Journey/ Access Resource →]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135" y="4508264"/>
            <a:ext cx="3154680" cy="1352201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lang="en-US" dirty="0"/>
              <a:t>SUSTAINABLE AGRICULTURE PRACTICES</a:t>
            </a:r>
            <a:br>
              <a:rPr dirty="0"/>
            </a:br>
            <a:r>
              <a:rPr lang="en-US" sz="1200" dirty="0"/>
              <a:t>[Begin your Learning Journey/ Access Resource →]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0789" y="107927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Commoning of Commons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53007" y="107927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Learning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dirty="0"/>
              <a:t>6. Resource-system</a:t>
            </a:r>
            <a:r>
              <a:rPr lang="en-US" dirty="0"/>
              <a:t>s - Information Page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59845" y="5738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Use the same page logic for Pastureland, Forests and Water.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6595" y="1051560"/>
            <a:ext cx="12344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1051560"/>
            <a:ext cx="1691640" cy="384048"/>
          </a:xfrm>
          <a:prstGeom prst="roundRect">
            <a:avLst/>
          </a:prstGeom>
          <a:solidFill>
            <a:schemeClr val="accent4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/>
              <a:t>Resource Systems</a:t>
            </a:r>
            <a:r>
              <a:rPr lang="en-US" sz="900" b="1" dirty="0"/>
              <a:t> and Themes</a:t>
            </a:r>
            <a:endParaRPr sz="9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8595360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Resource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81360" y="1051560"/>
            <a:ext cx="7772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64208"/>
            <a:ext cx="11018520" cy="59436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FORESTS  /  PASTURELAND  /  WATER     [Resource-system introduction + intended users + expected outcome]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3890" y="2445603"/>
            <a:ext cx="10268989" cy="502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COMMONING </a:t>
            </a:r>
            <a:r>
              <a:rPr dirty="0"/>
              <a:t>PATHWAY / PRO</a:t>
            </a:r>
            <a:r>
              <a:rPr lang="en-US" dirty="0"/>
              <a:t>CESS ]Key Steps of Process/ stages of Commoning Image  </a:t>
            </a:r>
            <a:r>
              <a:rPr dirty="0"/>
              <a:t>:  Understand context  →  Build institutions  →  Secure tenure  →  Plan  →  Restore/manage  →  Monitor &amp; adapt</a:t>
            </a:r>
            <a:r>
              <a:rPr lang="en-US" dirty="0"/>
              <a:t> </a:t>
            </a:r>
          </a:p>
          <a:p>
            <a:pPr algn="ctr">
              <a:defRPr sz="1100" b="1"/>
            </a:pPr>
            <a:r>
              <a:rPr lang="en-US" dirty="0"/>
              <a:t>(Link To process Documents)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5212518" y="4045467"/>
            <a:ext cx="2372016" cy="823617"/>
          </a:xfrm>
          <a:prstGeom prst="roundRect">
            <a:avLst/>
          </a:prstGeom>
          <a:solidFill>
            <a:srgbClr val="92D05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Modular Learning </a:t>
            </a:r>
            <a:r>
              <a:rPr lang="en-US" sz="1100" b="1" dirty="0">
                <a:sym typeface="Wingdings" panose="05000000000000000000" pitchFamily="2" charset="2"/>
              </a:rPr>
              <a:t></a:t>
            </a:r>
            <a:endParaRPr sz="1100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" y="5600604"/>
            <a:ext cx="11018520" cy="868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rPr lang="en-US" dirty="0"/>
              <a:t>RESOURCE CARDS FOR All CONTENTS/ TRAINING RESOURCES</a:t>
            </a:r>
          </a:p>
          <a:p>
            <a:pPr algn="ctr">
              <a:defRPr sz="1100" b="0"/>
            </a:pPr>
            <a:r>
              <a:rPr dirty="0"/>
              <a:t>[Title] [Purpose] [For whom] [Format] [Language] [Download/View]     Filters: stakeholder | format | language | stage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4172" y="4062077"/>
            <a:ext cx="2357572" cy="830779"/>
          </a:xfrm>
          <a:prstGeom prst="roundRect">
            <a:avLst/>
          </a:prstGeom>
          <a:solidFill>
            <a:srgbClr val="92D05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Atomized Course Curriculum</a:t>
            </a:r>
          </a:p>
          <a:p>
            <a:pPr algn="ctr">
              <a:defRPr sz="1100" b="1"/>
            </a:pPr>
            <a:r>
              <a:rPr lang="en-US" dirty="0"/>
              <a:t>(Low Dose High Frequency) and Learning Materials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707060" y="4113637"/>
            <a:ext cx="2357572" cy="734903"/>
          </a:xfrm>
          <a:prstGeom prst="roundRect">
            <a:avLst/>
          </a:prstGeom>
          <a:solidFill>
            <a:srgbClr val="92D05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Supporting Resources </a:t>
            </a:r>
            <a:r>
              <a:rPr lang="en-US" sz="1100" b="1" dirty="0">
                <a:sym typeface="Wingdings" panose="05000000000000000000" pitchFamily="2" charset="2"/>
              </a:rPr>
              <a:t></a:t>
            </a:r>
            <a:endParaRPr sz="1100" b="1" dirty="0"/>
          </a:p>
        </p:txBody>
      </p:sp>
      <p:sp>
        <p:nvSpPr>
          <p:cNvPr id="26" name="Rounded Rectangle 25"/>
          <p:cNvSpPr/>
          <p:nvPr/>
        </p:nvSpPr>
        <p:spPr>
          <a:xfrm>
            <a:off x="2514363" y="3035306"/>
            <a:ext cx="7968581" cy="7628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Learning Design and Materials</a:t>
            </a:r>
          </a:p>
          <a:p>
            <a:pPr algn="ctr">
              <a:defRPr sz="1100" b="1"/>
            </a:pPr>
            <a:r>
              <a:rPr lang="en-US" dirty="0"/>
              <a:t>(1-2 lines of the training design, whether modular and LDHF – how the can be delivered.) 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88704" y="5070834"/>
            <a:ext cx="11018520" cy="444595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rPr lang="en-US" dirty="0"/>
              <a:t>ON SELECTION OF THE OPTION – DISPLAY THE RELEVANT TRAINING CONTENT? MATERIALS/ MODULES BELOW (With the resource card)</a:t>
            </a:r>
            <a:endParaRPr dirty="0"/>
          </a:p>
        </p:txBody>
      </p:sp>
      <p:sp>
        <p:nvSpPr>
          <p:cNvPr id="15" name="Left Arrow 14"/>
          <p:cNvSpPr/>
          <p:nvPr/>
        </p:nvSpPr>
        <p:spPr>
          <a:xfrm>
            <a:off x="2022764" y="4457275"/>
            <a:ext cx="491599" cy="239416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77094" y="3819958"/>
            <a:ext cx="1777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Refer to Slide 11</a:t>
            </a:r>
          </a:p>
          <a:p>
            <a:r>
              <a:rPr lang="en-US" sz="1200" dirty="0"/>
              <a:t>(DESIGN OF ATOMISED COURSE CURRICULUM PAGE AND ATOMISED CONTENT)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34597" y="4350329"/>
            <a:ext cx="594360" cy="24549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681838" y="3653700"/>
            <a:ext cx="13716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Refer to Slide 12</a:t>
            </a:r>
          </a:p>
          <a:p>
            <a:r>
              <a:rPr lang="en-US" sz="1200" dirty="0"/>
              <a:t>(DESIGN OF MODULAR LEARNING AND SUPPORTING RESOURCES PAGE)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0789" y="107927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Commoning of Commons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53007" y="107927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Learning Approach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858974" y="2600997"/>
            <a:ext cx="367779" cy="173918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9276" y="2476301"/>
            <a:ext cx="94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Refer to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762" y="67763"/>
            <a:ext cx="6862276" cy="37616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132" y="3954088"/>
            <a:ext cx="5969103" cy="272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9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28" y="1305449"/>
            <a:ext cx="8826672" cy="512609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2128" y="168952"/>
            <a:ext cx="2357572" cy="830779"/>
          </a:xfrm>
          <a:prstGeom prst="roundRect">
            <a:avLst/>
          </a:prstGeom>
          <a:solidFill>
            <a:srgbClr val="92D05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Atomized Course Curriculum</a:t>
            </a:r>
          </a:p>
          <a:p>
            <a:pPr algn="ctr">
              <a:defRPr sz="1100" b="1"/>
            </a:pPr>
            <a:r>
              <a:rPr lang="en-US" dirty="0"/>
              <a:t>(Low Dose High Frequency) and Learning Materials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113824" y="4987633"/>
            <a:ext cx="15932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Note</a:t>
            </a:r>
            <a:r>
              <a:rPr lang="en-US" sz="1200" dirty="0"/>
              <a:t>: Clicking on the Topics or sub-topic - link should redirect user to the relevant content (on the repository page)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399" y="446038"/>
            <a:ext cx="6973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DESIGN OF ATOMISED COURSE CURRICULUM PAGE AND ATOMISED CONTENT</a:t>
            </a:r>
          </a:p>
        </p:txBody>
      </p:sp>
    </p:spTree>
    <p:extLst>
      <p:ext uri="{BB962C8B-B14F-4D97-AF65-F5344CB8AC3E}">
        <p14:creationId xmlns:p14="http://schemas.microsoft.com/office/powerpoint/2010/main" val="45791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22128" y="168952"/>
            <a:ext cx="2357572" cy="830779"/>
          </a:xfrm>
          <a:prstGeom prst="roundRect">
            <a:avLst/>
          </a:prstGeom>
          <a:solidFill>
            <a:srgbClr val="92D05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Modular Learning and Supporting Resources Materials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241964" y="473751"/>
            <a:ext cx="6636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DESIGN OF MODULAR LEARNING AND SUPPORTING RESOURCES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1534" y="4419596"/>
            <a:ext cx="15932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Note</a:t>
            </a:r>
            <a:r>
              <a:rPr lang="en-US" sz="1200" dirty="0"/>
              <a:t>: Clicking on Modular Learning or Supporting Resources - link should redirect user to the relevant content (on the repository page).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79" y="1329566"/>
            <a:ext cx="8797637" cy="503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7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dirty="0"/>
              <a:t>6. </a:t>
            </a:r>
            <a:r>
              <a:rPr lang="en-US" dirty="0"/>
              <a:t>Themes - Information Page</a:t>
            </a:r>
          </a:p>
          <a:p>
            <a:pPr>
              <a:defRPr sz="2600" b="1"/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04427" y="573848"/>
            <a:ext cx="288572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Use the same page logic for </a:t>
            </a:r>
            <a:r>
              <a:rPr lang="en-US" dirty="0"/>
              <a:t>all themes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89613" y="1065415"/>
            <a:ext cx="12344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1051560"/>
            <a:ext cx="1691640" cy="384048"/>
          </a:xfrm>
          <a:prstGeom prst="roundRect">
            <a:avLst/>
          </a:prstGeom>
          <a:solidFill>
            <a:schemeClr val="accent4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/>
              <a:t>Resource Systems</a:t>
            </a:r>
            <a:r>
              <a:rPr lang="en-US" sz="900" b="1" dirty="0"/>
              <a:t> and Themes</a:t>
            </a:r>
            <a:endParaRPr sz="9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8595360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Resource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81360" y="1051560"/>
            <a:ext cx="7772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64208"/>
            <a:ext cx="11018520" cy="59436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lang="en-US" dirty="0"/>
              <a:t>THEME</a:t>
            </a:r>
            <a:r>
              <a:rPr dirty="0"/>
              <a:t>     [</a:t>
            </a:r>
            <a:r>
              <a:rPr lang="en-US" dirty="0"/>
              <a:t>Purpose of working on this theme and it’s relevance Linking it to Commons </a:t>
            </a:r>
            <a:r>
              <a:rPr dirty="0"/>
              <a:t> + intended users + expected outcome]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7581" y="3710317"/>
            <a:ext cx="1911096" cy="109589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Modular Learning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3191256" y="2713353"/>
            <a:ext cx="3486629" cy="7628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Learning Design and Materials</a:t>
            </a:r>
          </a:p>
          <a:p>
            <a:pPr algn="ctr">
              <a:defRPr sz="1100" b="1"/>
            </a:pPr>
            <a:r>
              <a:rPr lang="en-US" dirty="0"/>
              <a:t>(1-2 lines of the training design, whether modular and LDHF – how the can be delivered.) 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2396427" y="3685365"/>
            <a:ext cx="1899459" cy="1162405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Course Curriculum  Atomized Learning (Low Dose High Frequency)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320738" y="3005453"/>
            <a:ext cx="2405149" cy="1205013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lang="en-US" dirty="0"/>
              <a:t>Supporting Resources</a:t>
            </a:r>
          </a:p>
          <a:p>
            <a:pPr algn="ctr">
              <a:defRPr sz="1100" b="1"/>
            </a:pPr>
            <a:r>
              <a:rPr lang="en-US" dirty="0"/>
              <a:t>(Such as </a:t>
            </a:r>
          </a:p>
          <a:p>
            <a:pPr algn="ctr">
              <a:defRPr sz="1100" b="1"/>
            </a:pPr>
            <a:r>
              <a:rPr lang="en-US" dirty="0"/>
              <a:t>Handbooks,</a:t>
            </a:r>
          </a:p>
          <a:p>
            <a:pPr algn="ctr">
              <a:defRPr sz="1100" b="1"/>
            </a:pPr>
            <a:r>
              <a:rPr lang="en-US" dirty="0"/>
              <a:t>Facilitators’ Guide,</a:t>
            </a:r>
          </a:p>
          <a:p>
            <a:pPr algn="ctr">
              <a:defRPr sz="1100" b="1"/>
            </a:pPr>
            <a:r>
              <a:rPr lang="en-US" dirty="0"/>
              <a:t>SoPs, formats, etc.)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" y="5600604"/>
            <a:ext cx="11018520" cy="868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rPr lang="en-US" dirty="0"/>
              <a:t>RESOURCE CARDS FOR All CONTENTS/ TRAINING RESOURCES</a:t>
            </a:r>
          </a:p>
          <a:p>
            <a:pPr algn="ctr">
              <a:defRPr sz="1100" b="0"/>
            </a:pPr>
            <a:r>
              <a:rPr dirty="0"/>
              <a:t>[Title] [Purpose] [For whom] [Format] [Language] [Download/View]     Filters: stakeholder | format | language | 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8704" y="5070834"/>
            <a:ext cx="11018520" cy="444595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rPr lang="en-US" dirty="0"/>
              <a:t>ON SELECTION OF THE OPTION – DISPLAY THE RELEVANT TRAINING CONTENT? MATERIALS/ MODULES BELOW (With the resource card)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923079" y="1093125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Commoning of Commons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25297" y="1093125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392709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703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7. Resource Library — find a specific resource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51065" y="1051560"/>
            <a:ext cx="12344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5369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Commoning of Commons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25297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Learning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93992" y="1051560"/>
            <a:ext cx="16916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Resource Systems and Themes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051560"/>
            <a:ext cx="1691640" cy="384048"/>
          </a:xfrm>
          <a:prstGeom prst="roundRect">
            <a:avLst/>
          </a:prstGeom>
          <a:solidFill>
            <a:schemeClr val="accent4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/>
              <a:t>Resource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81360" y="1051560"/>
            <a:ext cx="777240" cy="38404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rPr dirty="0"/>
              <a:t>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1018520" cy="59436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/>
            </a:pPr>
            <a:r>
              <a:rPr dirty="0"/>
              <a:t>SEARCH:  [ Search by topic, process, tool or keyword…                                      🔍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60320"/>
            <a:ext cx="2240280" cy="3154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 dirty="0"/>
              <a:t>FILTERS</a:t>
            </a:r>
            <a:br>
              <a:rPr dirty="0"/>
            </a:br>
            <a:br>
              <a:rPr dirty="0"/>
            </a:br>
            <a:r>
              <a:rPr dirty="0"/>
              <a:t>Resource system</a:t>
            </a:r>
            <a:br>
              <a:rPr dirty="0"/>
            </a:br>
            <a:r>
              <a:rPr dirty="0"/>
              <a:t>□ Pastureland</a:t>
            </a:r>
            <a:br>
              <a:rPr dirty="0"/>
            </a:br>
            <a:r>
              <a:rPr dirty="0"/>
              <a:t>□ Forests</a:t>
            </a:r>
            <a:br>
              <a:rPr dirty="0"/>
            </a:br>
            <a:r>
              <a:rPr dirty="0"/>
              <a:t>□ Water</a:t>
            </a:r>
            <a:br>
              <a:rPr dirty="0"/>
            </a:br>
            <a:br>
              <a:rPr dirty="0"/>
            </a:br>
            <a:r>
              <a:rPr dirty="0"/>
              <a:t>Stage of Commoning</a:t>
            </a:r>
            <a:br>
              <a:rPr dirty="0"/>
            </a:br>
            <a:r>
              <a:rPr dirty="0"/>
              <a:t>Stakeholder</a:t>
            </a:r>
            <a:br>
              <a:rPr dirty="0"/>
            </a:br>
            <a:r>
              <a:rPr dirty="0"/>
              <a:t>Learning design</a:t>
            </a:r>
            <a:br>
              <a:rPr dirty="0"/>
            </a:br>
            <a:r>
              <a:rPr dirty="0"/>
              <a:t>Resource type</a:t>
            </a:r>
            <a:br>
              <a:rPr dirty="0"/>
            </a:br>
            <a:r>
              <a:rPr dirty="0"/>
              <a:t>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560320"/>
            <a:ext cx="8458200" cy="6400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/>
              <a:t>RESULTS      Sort: Recommended / A–Z / Recently added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429000"/>
            <a:ext cx="8458200" cy="65836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/>
            </a:pPr>
            <a:r>
              <a:rPr dirty="0"/>
              <a:t>[RESOURCE TITLE]   [1-line purpose]   Tags: Forest | Tenure | Facilitator Guide | Hindi     [View] [Download]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4251960"/>
            <a:ext cx="8458200" cy="65836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/>
            </a:pPr>
            <a:r>
              <a:rPr dirty="0"/>
              <a:t>[RESOURCE TITLE]   [1-line purpose]   Tags: Forest | Tenure | Facilitator Guide | Hindi     [View] [Download]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5074920"/>
            <a:ext cx="8458200" cy="658368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/>
            </a:pPr>
            <a:r>
              <a:rPr dirty="0"/>
              <a:t>[RESOURCE TITLE]   [1-line purpose]   Tags: Forest | Tenure | Facilitator Guide | Hindi     [View] [Download]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5865737"/>
            <a:ext cx="11018520" cy="868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rPr dirty="0"/>
              <a:t>RESOURCE CARDS FOR </a:t>
            </a:r>
            <a:r>
              <a:rPr lang="en-US" dirty="0"/>
              <a:t>All CONTENTS/ TRAINING RESOURCES</a:t>
            </a:r>
            <a:br>
              <a:rPr dirty="0"/>
            </a:br>
            <a:r>
              <a:rPr dirty="0"/>
              <a:t>[</a:t>
            </a:r>
            <a:r>
              <a:rPr lang="en-US" dirty="0"/>
              <a:t>Resource </a:t>
            </a:r>
            <a:r>
              <a:rPr dirty="0"/>
              <a:t>Title] [Purpose] [For whom</a:t>
            </a:r>
            <a:r>
              <a:rPr lang="en-US" dirty="0"/>
              <a:t>/ Intended User</a:t>
            </a:r>
            <a:r>
              <a:rPr dirty="0"/>
              <a:t>] [</a:t>
            </a:r>
            <a:r>
              <a:rPr lang="en-US" dirty="0"/>
              <a:t>Resource Type</a:t>
            </a:r>
            <a:r>
              <a:rPr dirty="0"/>
              <a:t>] [Language] [Download/View]     Filters: stakeholder | format | language | stage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3412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8. </a:t>
            </a:r>
            <a:r>
              <a:rPr lang="en-US" dirty="0"/>
              <a:t>Some additional points: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70680" y="892512"/>
            <a:ext cx="68739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sz="1200" dirty="0"/>
              <a:t>A consistent metadata structure will make the repository easier to navigate and maintain.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3646" y="1508760"/>
            <a:ext cx="4042753" cy="4297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rPr dirty="0"/>
              <a:t>RESOURCE CARD</a:t>
            </a:r>
            <a:r>
              <a:rPr lang="en-US" dirty="0"/>
              <a:t> For every resource uploaded</a:t>
            </a:r>
            <a:r>
              <a:rPr dirty="0"/>
              <a:t> — REQUIRED FIELDS</a:t>
            </a:r>
            <a:br>
              <a:rPr dirty="0"/>
            </a:br>
            <a:br>
              <a:rPr dirty="0"/>
            </a:br>
            <a:r>
              <a:rPr dirty="0"/>
              <a:t>• Resource title</a:t>
            </a:r>
            <a:br>
              <a:rPr dirty="0"/>
            </a:br>
            <a:r>
              <a:rPr dirty="0"/>
              <a:t>• 1-line purpose</a:t>
            </a:r>
            <a:br>
              <a:rPr dirty="0"/>
            </a:br>
            <a:r>
              <a:rPr dirty="0"/>
              <a:t>• Resource system</a:t>
            </a:r>
            <a:r>
              <a:rPr lang="en-US" dirty="0"/>
              <a:t> or Theme</a:t>
            </a:r>
            <a:br>
              <a:rPr dirty="0"/>
            </a:br>
            <a:r>
              <a:rPr dirty="0"/>
              <a:t>• Commoning stage/process</a:t>
            </a:r>
            <a:r>
              <a:rPr lang="en-US" dirty="0"/>
              <a:t> (display only if resource system selected)</a:t>
            </a:r>
            <a:br>
              <a:rPr dirty="0"/>
            </a:br>
            <a:r>
              <a:rPr dirty="0"/>
              <a:t>• Intended stakeholder/user</a:t>
            </a:r>
            <a:br>
              <a:rPr dirty="0"/>
            </a:br>
            <a:r>
              <a:rPr dirty="0"/>
              <a:t>• Learning design: Modular / LDHF / Both</a:t>
            </a:r>
            <a:br>
              <a:rPr dirty="0"/>
            </a:br>
            <a:r>
              <a:rPr dirty="0"/>
              <a:t>• Resource type</a:t>
            </a:r>
            <a:br>
              <a:rPr dirty="0"/>
            </a:br>
            <a:r>
              <a:rPr dirty="0"/>
              <a:t>• Language</a:t>
            </a:r>
            <a:br>
              <a:rPr dirty="0"/>
            </a:br>
            <a:r>
              <a:rPr dirty="0"/>
              <a:t>• Version/date</a:t>
            </a:r>
            <a:br>
              <a:rPr dirty="0"/>
            </a:br>
            <a:r>
              <a:rPr dirty="0"/>
              <a:t>• View / download</a:t>
            </a:r>
            <a:endParaRPr lang="en-US" dirty="0"/>
          </a:p>
          <a:p>
            <a:pPr>
              <a:defRPr sz="1200" b="0"/>
            </a:pPr>
            <a:r>
              <a:rPr lang="en-US" dirty="0"/>
              <a:t>• Attribution to Contributor (For non-FES ecosystem actors)</a:t>
            </a:r>
          </a:p>
          <a:p>
            <a:pPr>
              <a:defRPr sz="1200" b="0"/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586454" y="1508760"/>
            <a:ext cx="4042753" cy="4297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rPr dirty="0"/>
              <a:t>NAVIGATION PRINCIPLES</a:t>
            </a:r>
            <a:br>
              <a:rPr dirty="0"/>
            </a:br>
            <a:br>
              <a:rPr dirty="0"/>
            </a:br>
            <a:r>
              <a:rPr dirty="0"/>
              <a:t>1. Always show where the user is.</a:t>
            </a:r>
            <a:br>
              <a:rPr dirty="0"/>
            </a:br>
            <a:r>
              <a:rPr dirty="0"/>
              <a:t>2. Keep the Commoning pathway visible</a:t>
            </a:r>
            <a:r>
              <a:rPr lang="en-US" dirty="0"/>
              <a:t> on the resource system page</a:t>
            </a:r>
            <a:r>
              <a:rPr dirty="0"/>
              <a:t>.</a:t>
            </a:r>
            <a:br>
              <a:rPr dirty="0"/>
            </a:br>
            <a:r>
              <a:rPr dirty="0"/>
              <a:t>3. Recommend the ‘next’ resource.</a:t>
            </a:r>
            <a:br>
              <a:rPr dirty="0"/>
            </a:br>
            <a:r>
              <a:rPr lang="en-US" dirty="0"/>
              <a:t>4</a:t>
            </a:r>
            <a:r>
              <a:rPr dirty="0"/>
              <a:t>. Use </a:t>
            </a:r>
            <a:r>
              <a:rPr lang="en-US" dirty="0"/>
              <a:t>simple/ </a:t>
            </a:r>
            <a:r>
              <a:rPr dirty="0"/>
              <a:t>plain-language labels.</a:t>
            </a:r>
            <a:br>
              <a:rPr dirty="0"/>
            </a:br>
            <a:r>
              <a:rPr lang="en-US" dirty="0"/>
              <a:t>5</a:t>
            </a:r>
            <a:r>
              <a:rPr dirty="0"/>
              <a:t>. Keep search + filters available.</a:t>
            </a:r>
            <a:br>
              <a:rPr dirty="0"/>
            </a:br>
            <a:r>
              <a:rPr lang="en-US" dirty="0"/>
              <a:t>6</a:t>
            </a:r>
            <a:r>
              <a:rPr dirty="0"/>
              <a:t>. Use the same structure across all three resource systems</a:t>
            </a:r>
            <a:r>
              <a:rPr lang="en-US" dirty="0"/>
              <a:t>. Similarly, keep the structure common for all the themes 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1558</TotalTime>
  <Words>2931</Words>
  <Application>Microsoft Office PowerPoint</Application>
  <PresentationFormat>Widescreen</PresentationFormat>
  <Paragraphs>277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Mayuri</cp:lastModifiedBy>
  <cp:revision>106</cp:revision>
  <dcterms:created xsi:type="dcterms:W3CDTF">2013-01-27T09:14:16Z</dcterms:created>
  <dcterms:modified xsi:type="dcterms:W3CDTF">2026-08-14T11:53:58Z</dcterms:modified>
  <cp:category/>
</cp:coreProperties>
</file>